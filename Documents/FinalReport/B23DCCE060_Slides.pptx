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2552"/>
            <a:ext cx="12188952" cy="155448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55448"/>
            <a:ext cx="155448" cy="6547104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33504" y="155448"/>
            <a:ext cx="155448" cy="6547104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411480"/>
            <a:ext cx="11365992" cy="30175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6416344"/>
            <a:ext cx="11365992" cy="30175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411480"/>
            <a:ext cx="30175" cy="603504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47296" y="411480"/>
            <a:ext cx="30175" cy="603504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415" y="353415"/>
            <a:ext cx="146304" cy="146304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89232" y="353415"/>
            <a:ext cx="146304" cy="146304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415" y="6358280"/>
            <a:ext cx="146304" cy="146304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89232" y="6358280"/>
            <a:ext cx="146304" cy="146304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24326" y="1202618"/>
            <a:ext cx="740298" cy="740298"/>
          </a:xfrm>
          <a:prstGeom prst="ellipse">
            <a:avLst/>
          </a:prstGeom>
          <a:noFill/>
          <a:ln w="31292">
            <a:solidFill>
              <a:srgbClr val="5C3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64983" y="1343275"/>
            <a:ext cx="458984" cy="458984"/>
          </a:xfrm>
          <a:prstGeom prst="ellipse">
            <a:avLst/>
          </a:prstGeom>
          <a:noFill/>
          <a:ln w="15646">
            <a:solidFill>
              <a:srgbClr val="5C3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48324" y="1089964"/>
            <a:ext cx="27358" cy="386242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5339" y="1089964"/>
            <a:ext cx="27358" cy="386242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2354" y="1089964"/>
            <a:ext cx="27358" cy="386242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73671" y="1496324"/>
            <a:ext cx="50694" cy="559247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14294" y="1089964"/>
            <a:ext cx="54717" cy="96560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52373" y="1627632"/>
            <a:ext cx="272125" cy="226771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352373" y="1576608"/>
            <a:ext cx="272125" cy="102047"/>
          </a:xfrm>
          <a:prstGeom prst="ellipse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14275" y="1826056"/>
            <a:ext cx="348320" cy="56692"/>
          </a:xfrm>
          <a:prstGeom prst="ellipse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24498" y="1668450"/>
            <a:ext cx="79369" cy="27212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76656" y="1668450"/>
            <a:ext cx="27212" cy="10885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24498" y="1750088"/>
            <a:ext cx="79369" cy="27212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48751" y="1400860"/>
            <a:ext cx="21543" cy="147401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45128" y="1400860"/>
            <a:ext cx="21543" cy="147401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64453" y="1627632"/>
            <a:ext cx="272125" cy="226771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64453" y="1576608"/>
            <a:ext cx="272125" cy="102047"/>
          </a:xfrm>
          <a:prstGeom prst="ellipse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26355" y="1826056"/>
            <a:ext cx="348320" cy="56692"/>
          </a:xfrm>
          <a:prstGeom prst="ellipse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36578" y="1668450"/>
            <a:ext cx="79369" cy="27212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8736" y="1668450"/>
            <a:ext cx="27212" cy="10885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36578" y="1750088"/>
            <a:ext cx="79369" cy="27212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60831" y="1400860"/>
            <a:ext cx="21543" cy="147401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57208" y="1400860"/>
            <a:ext cx="21543" cy="147401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97280" y="2487168"/>
            <a:ext cx="9994392" cy="27432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2606040"/>
            <a:ext cx="110916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3A1A05"/>
                </a:solidFill>
                <a:latin typeface="Calibri" panose="020F0502020204030204"/>
              </a:rPr>
              <a:t>HỆ THỐNG QUẢN LÝ NHÀ HÀNG</a:t>
            </a:r>
            <a:endParaRPr sz="4200" b="1" i="0">
              <a:solidFill>
                <a:srgbClr val="3A1A05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8640" y="3621024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47E45"/>
                </a:solidFill>
                <a:latin typeface="Calibri" panose="020F0502020204030204"/>
              </a:rPr>
              <a:t>Point-of-Sale  ·  ShiftPOS  ·  Foody</a:t>
            </a:r>
            <a:endParaRPr sz="2000" b="0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645920" y="4315968"/>
            <a:ext cx="8897112" cy="27432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462272"/>
            <a:ext cx="110916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C3415"/>
                </a:solidFill>
                <a:latin typeface="Calibri" panose="020F0502020204030204"/>
              </a:rPr>
              <a:t>Thực tập Cơ sở  |  Học viện Công nghệ Bưu chính Viễn thông  |  2025 – 2026</a:t>
            </a:r>
            <a:endParaRPr sz="1300" b="0" i="0">
              <a:solidFill>
                <a:srgbClr val="5C3415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8640" y="4892040"/>
            <a:ext cx="11091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C3415"/>
                </a:solidFill>
                <a:latin typeface="Calibri" panose="020F0502020204030204"/>
              </a:rPr>
              <a:t>Sinh viên: Nguyễn Minh Tuấn Kiệt   |   MSSV: B23DCCE060   |   Lớp: D23CQCE06-B</a:t>
            </a:r>
            <a:endParaRPr sz="1200" b="0" i="0">
              <a:solidFill>
                <a:srgbClr val="5C3415"/>
              </a:solidFill>
              <a:latin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8640" y="5285232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C3415"/>
                </a:solidFill>
                <a:latin typeface="Calibri" panose="020F0502020204030204"/>
              </a:rPr>
              <a:t>Giảng viên hướng dẫn: Kim Ngọc Bách</a:t>
            </a:r>
            <a:endParaRPr sz="1200" b="0" i="0">
              <a:solidFill>
                <a:srgbClr val="5C341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Nội dung thuyết trình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40312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2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014984"/>
            <a:ext cx="56692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14984"/>
            <a:ext cx="530352" cy="164592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63624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01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" y="1088136"/>
            <a:ext cx="4956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218"/>
                </a:solidFill>
                <a:latin typeface="Calibri" panose="020F0502020204030204"/>
              </a:rPr>
              <a:t>Giới thiệu chủ đề</a:t>
            </a:r>
            <a:endParaRPr sz="14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" y="1545336"/>
            <a:ext cx="495604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POS là gì và bối cảnh ngành F&amp;B Việt Nam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27648" y="1014984"/>
            <a:ext cx="56692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7648" y="1014984"/>
            <a:ext cx="530352" cy="1645920"/>
          </a:xfrm>
          <a:prstGeom prst="rect">
            <a:avLst/>
          </a:prstGeom>
          <a:solidFill>
            <a:srgbClr val="D9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563624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02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49440" y="1088136"/>
            <a:ext cx="4956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235"/>
                </a:solidFill>
                <a:latin typeface="Calibri" panose="020F0502020204030204"/>
              </a:rPr>
              <a:t>Nguyên nhân thực hiện</a:t>
            </a:r>
            <a:endParaRPr sz="1400" b="1" i="0">
              <a:solidFill>
                <a:srgbClr val="D97235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49440" y="1545336"/>
            <a:ext cx="495604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Vấn đề của quy trình quản lý thủ công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2798064"/>
            <a:ext cx="56692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798064"/>
            <a:ext cx="530352" cy="164592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346704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03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1832" y="2871216"/>
            <a:ext cx="4956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7E45"/>
                </a:solidFill>
                <a:latin typeface="Calibri" panose="020F0502020204030204"/>
              </a:rPr>
              <a:t>Tính thiết yếu</a:t>
            </a:r>
            <a:endParaRPr sz="1400" b="1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1832" y="3328416"/>
            <a:ext cx="495604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Lợi ích của việc số hóa vận hành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327648" y="2798064"/>
            <a:ext cx="56692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7648" y="2798064"/>
            <a:ext cx="530352" cy="164592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3346704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04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49440" y="2871216"/>
            <a:ext cx="4956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218"/>
                </a:solidFill>
                <a:latin typeface="Calibri" panose="020F0502020204030204"/>
              </a:rPr>
              <a:t>Các chức năng hệ thống</a:t>
            </a:r>
            <a:endParaRPr sz="14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49440" y="3328416"/>
            <a:ext cx="495604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7 nhóm tính năng chính của ShiftPOS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0040" y="4581144"/>
            <a:ext cx="56692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581144"/>
            <a:ext cx="530352" cy="1645920"/>
          </a:xfrm>
          <a:prstGeom prst="rect">
            <a:avLst/>
          </a:prstGeom>
          <a:solidFill>
            <a:srgbClr val="D9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5129784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05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41832" y="4654296"/>
            <a:ext cx="4956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235"/>
                </a:solidFill>
                <a:latin typeface="Calibri" panose="020F0502020204030204"/>
              </a:rPr>
              <a:t>Cơ sở dữ liệu</a:t>
            </a:r>
            <a:endParaRPr sz="1400" b="1" i="0">
              <a:solidFill>
                <a:srgbClr val="D97235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41832" y="5111496"/>
            <a:ext cx="495604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Thiết kế schema và biểu đồ EER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327648" y="4581144"/>
            <a:ext cx="56692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27648" y="4581144"/>
            <a:ext cx="530352" cy="164592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5129784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06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49440" y="4654296"/>
            <a:ext cx="4956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7E45"/>
                </a:solidFill>
                <a:latin typeface="Calibri" panose="020F0502020204030204"/>
              </a:rPr>
              <a:t>Ứng dụng thực tế</a:t>
            </a:r>
            <a:endParaRPr sz="1400" b="1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49440" y="5111496"/>
            <a:ext cx="495604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Quy trình vận hành &amp; đối tượng hưởng lợi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Giới thiệu chủ đề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47E45"/>
                </a:solidFill>
                <a:latin typeface="Calibri" panose="020F0502020204030204"/>
              </a:rPr>
              <a:t>Introduction</a:t>
            </a:r>
            <a:endParaRPr sz="11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40312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3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103327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C3218"/>
                </a:solidFill>
                <a:latin typeface="Calibri" panose="020F0502020204030204"/>
              </a:rPr>
              <a:t>Point-of-Sale (POS) là gì?</a:t>
            </a:r>
            <a:endParaRPr sz="17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1536192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Hệ thống xử lý giao dịch bán hàng tại điểm phục vụ khách hàng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Tích hợp toàn bộ: đặt bàn → gọi món → bếp → thu ngân → báo cáo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Thay thế hoàn toàn quy trình ghi tay truyền thống bằng giải pháp số hóa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3182112"/>
            <a:ext cx="11548872" cy="27432"/>
          </a:xfrm>
          <a:prstGeom prst="rect">
            <a:avLst/>
          </a:prstGeom>
          <a:solidFill>
            <a:srgbClr val="D4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31927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C3218"/>
                </a:solidFill>
                <a:latin typeface="Calibri" panose="020F0502020204030204"/>
              </a:rPr>
              <a:t>Bối cảnh ngành F&amp;B Việt Nam</a:t>
            </a:r>
            <a:endParaRPr sz="17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0040" y="3822191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Hơn 540.000 cơ sở kinh doanh ẩm thực (Bộ Công Thương, 2024)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Tăng trưởng ~18%/năm — nhu cầu ứng dụng công nghệ rất lớn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Đa phần doanh nghiệp vừa &amp; nhỏ chưa có hệ thống quản lý tích hợp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Cạnh tranh cao → áp lực tối ưu chi phí và nâng chất lượng dịch vụ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</p:txBody>
      </p:sp>
      <p:pic>
        <p:nvPicPr>
          <p:cNvPr id="14" name="Picture 13" descr="HomeP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2333800"/>
            <a:ext cx="5724144" cy="27664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Nguyên nhân thực hiện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47E45"/>
                </a:solidFill>
                <a:latin typeface="Calibri" panose="020F0502020204030204"/>
              </a:rPr>
              <a:t>Những vấn đề của quy trình quản lý thủ công</a:t>
            </a:r>
            <a:endParaRPr sz="11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40312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4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0040" y="1033272"/>
            <a:ext cx="566928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33272"/>
            <a:ext cx="82296" cy="1627632"/>
          </a:xfrm>
          <a:prstGeom prst="rect">
            <a:avLst/>
          </a:prstGeom>
          <a:solidFill>
            <a:srgbClr val="D9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1124712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235"/>
                </a:solidFill>
                <a:latin typeface="Calibri" panose="020F0502020204030204"/>
              </a:rPr>
              <a:t>Sai sót gọi món</a:t>
            </a:r>
            <a:endParaRPr sz="1400" b="1" i="0">
              <a:solidFill>
                <a:srgbClr val="D97235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1207" y="160020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Ghi tay → nhầm món, sót yêu cầu đặc biệt, truyền nhầm bếp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27648" y="1033272"/>
            <a:ext cx="566928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7648" y="1033272"/>
            <a:ext cx="82296" cy="1627632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1124712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218"/>
                </a:solidFill>
                <a:latin typeface="Calibri" panose="020F0502020204030204"/>
              </a:rPr>
              <a:t>Tắc nghẽn thông tin</a:t>
            </a:r>
            <a:endParaRPr sz="14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28816" y="160020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Bếp không biết thứ tự ưu tiên, phục vụ không biết món đã xong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0040" y="2816352"/>
            <a:ext cx="566928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816352"/>
            <a:ext cx="82296" cy="1627632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2907792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7E45"/>
                </a:solidFill>
                <a:latin typeface="Calibri" panose="020F0502020204030204"/>
              </a:rPr>
              <a:t>Thanh toán chậm</a:t>
            </a:r>
            <a:endParaRPr sz="1400" b="1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1207" y="338328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Tính tiền thủ công, khó tách/gộp hóa đơn, không in biên lai ngay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27648" y="2816352"/>
            <a:ext cx="566928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27648" y="2816352"/>
            <a:ext cx="82296" cy="1627632"/>
          </a:xfrm>
          <a:prstGeom prst="rect">
            <a:avLst/>
          </a:prstGeom>
          <a:solidFill>
            <a:srgbClr val="D9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907792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235"/>
                </a:solidFill>
                <a:latin typeface="Calibri" panose="020F0502020204030204"/>
              </a:rPr>
              <a:t>Khó kiểm soát doanh thu</a:t>
            </a:r>
            <a:endParaRPr sz="1400" b="1" i="0">
              <a:solidFill>
                <a:srgbClr val="D97235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28816" y="338328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Không có báo cáo tức thì, dễ thất thoát, gian lận khó phát hiện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0040" y="4599432"/>
            <a:ext cx="566928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599432"/>
            <a:ext cx="82296" cy="1627632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7" y="4690872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218"/>
                </a:solidFill>
                <a:latin typeface="Calibri" panose="020F0502020204030204"/>
              </a:rPr>
              <a:t>Quản lý nhân sự phức tạp</a:t>
            </a:r>
            <a:endParaRPr sz="14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21207" y="5166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Không theo dõi được hiệu suất từng nhân viên theo thời gian thực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27648" y="4599432"/>
            <a:ext cx="566928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7648" y="4599432"/>
            <a:ext cx="82296" cy="1627632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4690872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7E45"/>
                </a:solidFill>
                <a:latin typeface="Calibri" panose="020F0502020204030204"/>
              </a:rPr>
              <a:t>Thiếu tích hợp</a:t>
            </a:r>
            <a:endParaRPr sz="1400" b="1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28816" y="5166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Bếp – Phục vụ – Thu ngân hoạt động rời rạc, không liên thông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Tính thiết yếu của hệ thống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47E45"/>
                </a:solidFill>
                <a:latin typeface="Calibri" panose="020F0502020204030204"/>
              </a:rPr>
              <a:t>Lợi ích khi áp dụng giải pháp số hóa</a:t>
            </a:r>
            <a:endParaRPr sz="11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274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ShiftPOS  ·  Nguyễn Minh Tuấn Kiệt  ·  B23DCCE060  ·  PTIT 2026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640312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5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0040" y="987552"/>
            <a:ext cx="11548872" cy="888492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987552"/>
            <a:ext cx="475488" cy="888492"/>
          </a:xfrm>
          <a:prstGeom prst="rect">
            <a:avLst/>
          </a:prstGeom>
          <a:solidFill>
            <a:srgbClr val="D9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175766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0607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235"/>
                </a:solidFill>
                <a:latin typeface="Calibri" panose="020F0502020204030204"/>
              </a:rPr>
              <a:t>Tự động hóa vận hành</a:t>
            </a:r>
            <a:endParaRPr sz="1400" b="1" i="0">
              <a:solidFill>
                <a:srgbClr val="D97235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49039" y="107899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Mọi thao tác từ gọi món đến thanh toán đều số hóa — không cần giấy tờ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040" y="1912620"/>
            <a:ext cx="11548872" cy="888492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1912620"/>
            <a:ext cx="475488" cy="888492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100834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19857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218"/>
                </a:solidFill>
                <a:latin typeface="Calibri" panose="020F0502020204030204"/>
              </a:rPr>
              <a:t>Kiểm soát thời gian thực</a:t>
            </a:r>
            <a:endParaRPr sz="14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49039" y="200406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Trạng thái bàn, đơn hàng và doanh thu cập nhật ngay lập tức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0040" y="2837688"/>
            <a:ext cx="11548872" cy="888492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837688"/>
            <a:ext cx="475488" cy="888492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025902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" y="2910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7E45"/>
                </a:solidFill>
                <a:latin typeface="Calibri" panose="020F0502020204030204"/>
              </a:rPr>
              <a:t>Phân quyền chặt chẽ</a:t>
            </a:r>
            <a:endParaRPr sz="1400" b="1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49039" y="2929128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4 vai trò rõ ràng (RBAC): Quản lý · Thu ngân · Phục vụ · Bếp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0040" y="3762756"/>
            <a:ext cx="11548872" cy="888492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762756"/>
            <a:ext cx="475488" cy="888492"/>
          </a:xfrm>
          <a:prstGeom prst="rect">
            <a:avLst/>
          </a:prstGeom>
          <a:solidFill>
            <a:srgbClr val="D9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950970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1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400" y="38359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235"/>
                </a:solidFill>
                <a:latin typeface="Calibri" panose="020F0502020204030204"/>
              </a:rPr>
              <a:t>Báo cáo tức thì</a:t>
            </a:r>
            <a:endParaRPr sz="1400" b="1" i="0">
              <a:solidFill>
                <a:srgbClr val="D97235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49039" y="3854196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Doanh thu, sản phẩm bán chạy, hiệu suất nhân viên — mọi lúc mọi nơi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20040" y="4687824"/>
            <a:ext cx="11548872" cy="888492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687824"/>
            <a:ext cx="475488" cy="888492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876038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 panose="020F0502020204030204"/>
              </a:rPr>
              <a:t>5</a:t>
            </a:r>
            <a:endParaRPr sz="1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4400" y="476097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218"/>
                </a:solidFill>
                <a:latin typeface="Calibri" panose="020F0502020204030204"/>
              </a:rPr>
              <a:t>Linh hoạt thanh toán</a:t>
            </a:r>
            <a:endParaRPr sz="14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49039" y="4779264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Tách bill, gộp bill, chiết khấu %, VAT %, tiền mặt &amp; QR chuyển khoản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0040" y="5612892"/>
            <a:ext cx="11548872" cy="888492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5612892"/>
            <a:ext cx="475488" cy="888492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5801106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 panose="020F0502020204030204"/>
              </a:rPr>
              <a:t>6</a:t>
            </a:r>
            <a:endParaRPr sz="1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4400" y="56860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7E45"/>
                </a:solidFill>
                <a:latin typeface="Calibri" panose="020F0502020204030204"/>
              </a:rPr>
              <a:t>Kiến trúc dễ mở rộng</a:t>
            </a:r>
            <a:endParaRPr sz="1400" b="1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749039" y="57043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REST API + SPA — dễ dàng thêm tính năng mới và tích hợp bên thứ ba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Kiến trúc hệ thống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47E45"/>
                </a:solidFill>
                <a:latin typeface="Calibri" panose="020F0502020204030204"/>
              </a:rPr>
              <a:t>3-Tier Architecture  ·  REST API  ·  JSON  ·  HTTP</a:t>
            </a:r>
            <a:endParaRPr sz="11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40312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6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0040" y="941832"/>
            <a:ext cx="3593592" cy="5550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941832"/>
            <a:ext cx="3593592" cy="713232"/>
          </a:xfrm>
          <a:prstGeom prst="rect">
            <a:avLst/>
          </a:prstGeom>
          <a:solidFill>
            <a:srgbClr val="17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014984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FRONTEND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" y="1399032"/>
            <a:ext cx="3593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DDDDD"/>
                </a:solidFill>
                <a:latin typeface="Calibri" panose="020F0502020204030204"/>
              </a:rPr>
              <a:t>React + Vite</a:t>
            </a:r>
            <a:endParaRPr sz="1100" b="0" i="1">
              <a:solidFill>
                <a:srgbClr val="DDDDDD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4632" y="1792224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AuthContext — quản lý trạng thái đăng nhập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4632" y="2596896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axios api.js — giao tiếp REST API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4632" y="340156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App.jsx — SPA toàn bộ màn hình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4632" y="420624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recharts — biểu đồ báo cáo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4632" y="501091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react-to-print — in biên lai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41064" y="3396996"/>
            <a:ext cx="329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C3218"/>
                </a:solidFill>
                <a:latin typeface="Calibri" panose="020F0502020204030204"/>
              </a:rPr>
              <a:t>↔</a:t>
            </a:r>
            <a:endParaRPr sz="20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97680" y="941832"/>
            <a:ext cx="3593592" cy="5550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941832"/>
            <a:ext cx="3593592" cy="713232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014984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BACKEND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97680" y="1399032"/>
            <a:ext cx="3593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DDDDD"/>
                </a:solidFill>
                <a:latin typeface="Calibri" panose="020F0502020204030204"/>
              </a:rPr>
              <a:t>Flask Python</a:t>
            </a:r>
            <a:endParaRPr sz="1100" b="0" i="1">
              <a:solidFill>
                <a:srgbClr val="DDDDDD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62272" y="1792224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app.py — factory pattern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62272" y="2596896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7 Blueprint: auth, pos, kitchen,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62272" y="340156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  admin, reports, staff, thuchi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62272" y="420624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Middleware: JWT + RBAC + CORS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62272" y="501091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mysql-connector-python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918704" y="3396996"/>
            <a:ext cx="329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C3218"/>
                </a:solidFill>
                <a:latin typeface="Calibri" panose="020F0502020204030204"/>
              </a:rPr>
              <a:t>↔</a:t>
            </a:r>
            <a:endParaRPr sz="20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275320" y="941832"/>
            <a:ext cx="3593592" cy="5550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20" y="941832"/>
            <a:ext cx="3593592" cy="713232"/>
          </a:xfrm>
          <a:prstGeom prst="rect">
            <a:avLst/>
          </a:prstGeom>
          <a:solidFill>
            <a:srgbClr val="14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1014984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DATABASE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75320" y="1399032"/>
            <a:ext cx="3593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DDDDD"/>
                </a:solidFill>
                <a:latin typeface="Calibri" panose="020F0502020204030204"/>
              </a:rPr>
              <a:t>MySQL 8.0</a:t>
            </a:r>
            <a:endParaRPr sz="1100" b="0" i="1">
              <a:solidFill>
                <a:srgbClr val="DDDDDD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39912" y="1792224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Database: ShiftPOS (utf8mb4)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39912" y="2596896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KhoiTao.sql — schema &amp; dữ liệu mẫu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39912" y="340156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ChucNang.sql — trigger, view,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439912" y="420624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  stored procedure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39912" y="501091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Trigger tự động giải phóng bàn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Chức năng 1: Đăng nhập &amp; Phân quyền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47E45"/>
                </a:solidFill>
                <a:latin typeface="Calibri" panose="020F0502020204030204"/>
              </a:rPr>
              <a:t>Authentication &amp; Role-Based Access Control</a:t>
            </a:r>
            <a:endParaRPr sz="11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274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ShiftPOS  ·  Nguyễn Minh Tuấn Kiệt  ·  B23DCCE060  ·  PTIT 2026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640312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7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pic>
        <p:nvPicPr>
          <p:cNvPr id="9" name="Picture 8" descr="Log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63378"/>
            <a:ext cx="5989320" cy="29073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10528" y="1014984"/>
            <a:ext cx="53583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C3218"/>
                </a:solidFill>
                <a:latin typeface="Calibri" panose="020F0502020204030204"/>
              </a:rPr>
              <a:t>4 Vai trò (RBAC)</a:t>
            </a:r>
            <a:endParaRPr sz="17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0528" y="1536192"/>
            <a:ext cx="535838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44768" y="1563624"/>
            <a:ext cx="5724144" cy="1051560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1563624"/>
            <a:ext cx="1325880" cy="105156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792224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Quản lý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62088" y="1700784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Toàn quyền: menu, nhân viên, báo cáo, thu chi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44768" y="2752344"/>
            <a:ext cx="5724144" cy="1051560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2752344"/>
            <a:ext cx="1325880" cy="1051560"/>
          </a:xfrm>
          <a:prstGeom prst="rect">
            <a:avLst/>
          </a:prstGeom>
          <a:solidFill>
            <a:srgbClr val="D9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2980944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Thu ngân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62088" y="2889503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Thanh toán, tách/gộp hóa đơn, xem lịch sử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144768" y="3941064"/>
            <a:ext cx="5724144" cy="1051560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3941064"/>
            <a:ext cx="1325880" cy="105156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4768" y="4169664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Phục vụ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62088" y="4078224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Quản lý bàn, gọi món, chuyển bàn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44768" y="5129784"/>
            <a:ext cx="5724144" cy="1051560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5129784"/>
            <a:ext cx="1325880" cy="1051560"/>
          </a:xfrm>
          <a:prstGeom prst="rect">
            <a:avLst/>
          </a:prstGeom>
          <a:solidFill>
            <a:srgbClr val="17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5358384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Bếp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62088" y="5266944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800"/>
                </a:solidFill>
                <a:latin typeface="Calibri" panose="020F0502020204030204"/>
              </a:rPr>
              <a:t>Xem hàng đợi FIFO, cập nhật trạng thái món</a:t>
            </a:r>
            <a:endParaRPr sz="12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44768" y="6144768"/>
            <a:ext cx="5724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3415"/>
                </a:solidFill>
                <a:latin typeface="Calibri" panose="020F0502020204030204"/>
              </a:rPr>
              <a:t>Xác thực JWT (12h)  ·  Mật khẩu hash Werkzeug  ·  Quản lý luôn có toàn quyền</a:t>
            </a:r>
            <a:endParaRPr sz="1000" b="0" i="1">
              <a:solidFill>
                <a:srgbClr val="5C341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Chức năng 2: Quản lý bàn &amp; Gọi món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47E45"/>
                </a:solidFill>
                <a:latin typeface="Calibri" panose="020F0502020204030204"/>
              </a:rPr>
              <a:t>Table Management &amp; Order Taking</a:t>
            </a:r>
            <a:endParaRPr sz="11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40312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8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pic>
        <p:nvPicPr>
          <p:cNvPr id="9" name="Picture 8" descr="HomeP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69721"/>
            <a:ext cx="5989320" cy="28946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10528" y="1014984"/>
            <a:ext cx="53583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C3218"/>
                </a:solidFill>
                <a:latin typeface="Calibri" panose="020F0502020204030204"/>
              </a:rPr>
              <a:t>Tính năng nổi bật</a:t>
            </a:r>
            <a:endParaRPr sz="17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0528" y="1536192"/>
            <a:ext cx="535838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Sơ đồ bàn trực quan, phân theo khu vực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Bàn đang có khách hiển thị tạm tính ngay trên ô bàn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Tạo nhiều hóa đơn song song trên 1 bàn (split-seat)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Gọi món từ e-menu phân loại theo danh mục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Tăng / giảm số lượng từng món trực tiếp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Chuyển bàn hoặc gộp bàn trực tiếp trên giao diện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Thêm / sửa / xóa bàn và khu vực (Quản lý)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Chức năng 3: Màn hình Bếp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47E45"/>
                </a:solidFill>
                <a:latin typeface="Calibri" panose="020F0502020204030204"/>
              </a:rPr>
              <a:t>Kitchen Display System — FIFO Queue</a:t>
            </a:r>
            <a:endParaRPr sz="11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40312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9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pic>
        <p:nvPicPr>
          <p:cNvPr id="9" name="Picture 8" descr="Fif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39" y="2014769"/>
            <a:ext cx="5989320" cy="34045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10528" y="1014984"/>
            <a:ext cx="53583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C3218"/>
                </a:solidFill>
                <a:latin typeface="Calibri" panose="020F0502020204030204"/>
              </a:rPr>
              <a:t>Hàng đợi chế biến FIFO</a:t>
            </a:r>
            <a:endParaRPr sz="17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0528" y="1536192"/>
            <a:ext cx="535838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Hiển thị danh sách món cần chế biến theo thứ tự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Nguyên tắc First In – First Out: công bằng, minh bạch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Trạng thái từng món: Chờ → Đang làm → Xong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Tự động cập nhật khi phục vụ gọi thêm món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Bếp chỉ thấy màn hình của riêng mình (phân quyền)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Phục vụ xem trạng thái từng món ngay trên hóa đơn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Giảm tải thông tin, tránh nhầm lẫn, phục vụ nhanh hơn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Chức năng 4: Thanh toán &amp; Hóa đơn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47E45"/>
                </a:solidFill>
                <a:latin typeface="Calibri" panose="020F0502020204030204"/>
              </a:rPr>
              <a:t>Checkout, Billing &amp; Invoice History</a:t>
            </a:r>
            <a:endParaRPr sz="11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40312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10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pic>
        <p:nvPicPr>
          <p:cNvPr id="9" name="Picture 8" descr="Thanhto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640" y="941832"/>
            <a:ext cx="4442639" cy="3330244"/>
          </a:xfrm>
          <a:prstGeom prst="rect">
            <a:avLst/>
          </a:prstGeom>
        </p:spPr>
      </p:pic>
      <p:pic>
        <p:nvPicPr>
          <p:cNvPr id="10" name="Picture 9" descr="In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771" y="941832"/>
            <a:ext cx="5872689" cy="333024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4326940"/>
            <a:ext cx="11548872" cy="27432"/>
          </a:xfrm>
          <a:prstGeom prst="rect">
            <a:avLst/>
          </a:prstGeom>
          <a:solidFill>
            <a:srgbClr val="D4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4427524"/>
            <a:ext cx="5577840" cy="2018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>
                <a:solidFill>
                  <a:srgbClr val="1A0800"/>
                </a:solidFill>
                <a:latin typeface="Calibri" panose="020F0502020204030204"/>
              </a:rPr>
              <a:t>  Tách bill (Split Bill) theo từng món hoặc từng khách</a:t>
            </a:r>
            <a:endParaRPr sz="12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>
                <a:solidFill>
                  <a:srgbClr val="1A0800"/>
                </a:solidFill>
                <a:latin typeface="Calibri" panose="020F0502020204030204"/>
              </a:rPr>
              <a:t>  Gộp bill (Merge Bill) nhiều đơn lại với nhau</a:t>
            </a:r>
            <a:endParaRPr sz="12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>
                <a:solidFill>
                  <a:srgbClr val="1A0800"/>
                </a:solidFill>
                <a:latin typeface="Calibri" panose="020F0502020204030204"/>
              </a:rPr>
              <a:t>  Chiết khấu % + VAT % tuỳ chỉnh trực tiếp</a:t>
            </a:r>
            <a:endParaRPr sz="12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>
                <a:solidFill>
                  <a:srgbClr val="1A0800"/>
                </a:solidFill>
                <a:latin typeface="Calibri" panose="020F0502020204030204"/>
              </a:rPr>
              <a:t>  Thanh toán: Tiền mặt hoặc QR Chuyển khoản</a:t>
            </a:r>
            <a:endParaRPr sz="120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72200" y="4427524"/>
            <a:ext cx="5696712" cy="2018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>
                <a:solidFill>
                  <a:srgbClr val="1A0800"/>
                </a:solidFill>
                <a:latin typeface="Calibri" panose="020F0502020204030204"/>
              </a:rPr>
              <a:t>  In biên lai ngay lập tức (react-to-print)</a:t>
            </a:r>
            <a:endParaRPr sz="12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>
                <a:solidFill>
                  <a:srgbClr val="1A0800"/>
                </a:solidFill>
                <a:latin typeface="Calibri" panose="020F0502020204030204"/>
              </a:rPr>
              <a:t>  Lưu lịch sử hóa đơn đầy đủ để tra cứu</a:t>
            </a:r>
            <a:endParaRPr sz="12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>
                <a:solidFill>
                  <a:srgbClr val="1A0800"/>
                </a:solidFill>
                <a:latin typeface="Calibri" panose="020F0502020204030204"/>
              </a:rPr>
              <a:t>  Trigger MySQL tự giải phóng bàn sau thanh toán</a:t>
            </a:r>
            <a:endParaRPr sz="1200">
              <a:solidFill>
                <a:srgbClr val="1A08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Chức năng 5: Quản lý Thực đơn &amp; Nhân viên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47E45"/>
                </a:solidFill>
                <a:latin typeface="Calibri" panose="020F0502020204030204"/>
              </a:rPr>
              <a:t>Menu &amp; Staff Management</a:t>
            </a:r>
            <a:endParaRPr sz="11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40312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11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pic>
        <p:nvPicPr>
          <p:cNvPr id="9" name="Picture 8" descr="Ty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351" y="941832"/>
            <a:ext cx="4772056" cy="2692908"/>
          </a:xfrm>
          <a:prstGeom prst="rect">
            <a:avLst/>
          </a:prstGeom>
        </p:spPr>
      </p:pic>
      <p:pic>
        <p:nvPicPr>
          <p:cNvPr id="10" name="Picture 9" descr="nhanvi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16333"/>
            <a:ext cx="5440680" cy="20589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987552"/>
            <a:ext cx="5879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C3218"/>
                </a:solidFill>
                <a:latin typeface="Calibri" panose="020F0502020204030204"/>
              </a:rPr>
              <a:t>Quản lý thực đơn</a:t>
            </a:r>
            <a:endParaRPr sz="16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89320" y="1490472"/>
            <a:ext cx="58795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Thêm / sửa / xóa danh mục và món ăn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Thiết lập giá và mô tả từng món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Lọc thực đơn theo danh mục trên e-menu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Thay đổi có hiệu lực ngay lập tức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" y="3689604"/>
            <a:ext cx="11548872" cy="27432"/>
          </a:xfrm>
          <a:prstGeom prst="rect">
            <a:avLst/>
          </a:prstGeom>
          <a:solidFill>
            <a:srgbClr val="D4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3835908"/>
            <a:ext cx="5879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C3218"/>
                </a:solidFill>
                <a:latin typeface="Calibri" panose="020F0502020204030204"/>
              </a:rPr>
              <a:t>Quản lý nhân viên</a:t>
            </a:r>
            <a:endParaRPr sz="16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89320" y="4347972"/>
            <a:ext cx="58795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Thêm / sửa thông tin và tài khoản nhân viên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Gán vai trò (RBAC) cho từng nhân viên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Theo dõi hiệu suất: số đơn, doanh thu mang lại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Đối soát lương theo ca làm việc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Chức năng 6: Báo cáo &amp; Thống kê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47E45"/>
                </a:solidFill>
                <a:latin typeface="Calibri" panose="020F0502020204030204"/>
              </a:rPr>
              <a:t>Reports &amp; Analytics Dashboard</a:t>
            </a:r>
            <a:endParaRPr sz="11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40312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12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pic>
        <p:nvPicPr>
          <p:cNvPr id="9" name="Picture 8" descr="DoanhTh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33930"/>
            <a:ext cx="5669280" cy="2623568"/>
          </a:xfrm>
          <a:prstGeom prst="rect">
            <a:avLst/>
          </a:prstGeom>
        </p:spPr>
      </p:pic>
      <p:pic>
        <p:nvPicPr>
          <p:cNvPr id="10" name="Picture 9" descr="BestSe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27307"/>
            <a:ext cx="5788152" cy="223681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4595317"/>
            <a:ext cx="11548872" cy="27432"/>
          </a:xfrm>
          <a:prstGeom prst="rect">
            <a:avLst/>
          </a:prstGeom>
          <a:solidFill>
            <a:srgbClr val="D4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4641037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218"/>
                </a:solidFill>
                <a:latin typeface="Calibri" panose="020F0502020204030204"/>
              </a:rPr>
              <a:t>Các chỉ số quan trọng:</a:t>
            </a:r>
            <a:endParaRPr sz="13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" y="5043373"/>
            <a:ext cx="1810512" cy="45720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5061661"/>
            <a:ext cx="1810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Tổng doanh thu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40280" y="5043373"/>
            <a:ext cx="1810512" cy="457200"/>
          </a:xfrm>
          <a:prstGeom prst="rect">
            <a:avLst/>
          </a:prstGeom>
          <a:solidFill>
            <a:srgbClr val="D9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0280" y="5061661"/>
            <a:ext cx="1810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Số hóa đơn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160520" y="5043373"/>
            <a:ext cx="1810512" cy="45720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5061661"/>
            <a:ext cx="1810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Tiền mặt / CK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80760" y="5043373"/>
            <a:ext cx="1810512" cy="457200"/>
          </a:xfrm>
          <a:prstGeom prst="rect">
            <a:avLst/>
          </a:prstGeom>
          <a:solidFill>
            <a:srgbClr val="17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5061661"/>
            <a:ext cx="1810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Giờ cao điểm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001000" y="5043373"/>
            <a:ext cx="1810512" cy="45720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5061661"/>
            <a:ext cx="1810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Bán chạy nhất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921240" y="5043373"/>
            <a:ext cx="1810512" cy="457200"/>
          </a:xfrm>
          <a:prstGeom prst="rect">
            <a:avLst/>
          </a:prstGeom>
          <a:solidFill>
            <a:srgbClr val="D9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5061661"/>
            <a:ext cx="18105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Hiệu suất NV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Chức năng 7: Sổ Thu Chi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47E45"/>
                </a:solidFill>
                <a:latin typeface="Calibri" panose="020F0502020204030204"/>
              </a:rPr>
              <a:t>Income &amp; Expense Ledger</a:t>
            </a:r>
            <a:endParaRPr sz="11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40312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13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pic>
        <p:nvPicPr>
          <p:cNvPr id="9" name="Picture 8" descr="thuch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03425"/>
            <a:ext cx="5989319" cy="34272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10528" y="1014984"/>
            <a:ext cx="53583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C3218"/>
                </a:solidFill>
                <a:latin typeface="Calibri" panose="020F0502020204030204"/>
              </a:rPr>
              <a:t>Quản lý dòng tiền nội bộ</a:t>
            </a:r>
            <a:endParaRPr sz="17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0528" y="1536192"/>
            <a:ext cx="535838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Ghi nhận mọi khoản thu (từ hóa đơn) và chi phí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Phân loại: Thu doanh thu / Chi vận hành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Lọc theo khoảng thời gian tuỳ chỉnh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Tổng hợp số dư cuối kỳ tức thì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Chỉ vai trò Quản lý mới có quyền truy cập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Hỗ trợ đối soát với bảng báo cáo doanh thu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1A0800"/>
                </a:solidFill>
                <a:latin typeface="Calibri" panose="020F0502020204030204"/>
              </a:rPr>
              <a:t>  Minh bạch tài chính nội bộ cho chủ nhà hàng</a:t>
            </a:r>
            <a:endParaRPr sz="1300">
              <a:solidFill>
                <a:srgbClr val="1A08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Cơ sở dữ liệu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47E45"/>
                </a:solidFill>
                <a:latin typeface="Calibri" panose="020F0502020204030204"/>
              </a:rPr>
              <a:t>Database Design — Schema &amp; Entity Relationship Diagram</a:t>
            </a:r>
            <a:endParaRPr sz="11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40312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14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pic>
        <p:nvPicPr>
          <p:cNvPr id="9" name="Picture 8" descr="ER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3562"/>
            <a:ext cx="6492240" cy="50669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22592" y="98755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C3218"/>
                </a:solidFill>
                <a:latin typeface="Calibri" panose="020F0502020204030204"/>
              </a:rPr>
              <a:t>Các bảng dữ liệu chính</a:t>
            </a:r>
            <a:endParaRPr sz="16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022592" y="1536192"/>
            <a:ext cx="4846320" cy="822960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22592" y="1536192"/>
            <a:ext cx="82296" cy="822960"/>
          </a:xfrm>
          <a:prstGeom prst="rect">
            <a:avLst/>
          </a:prstGeom>
          <a:solidFill>
            <a:srgbClr val="D9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159105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235"/>
                </a:solidFill>
                <a:latin typeface="Calibri" panose="020F0502020204030204"/>
              </a:rPr>
              <a:t>KHUVUC / BAN</a:t>
            </a:r>
            <a:endParaRPr sz="1300" b="1" i="0">
              <a:solidFill>
                <a:srgbClr val="D97235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0" y="197510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3415"/>
                </a:solidFill>
                <a:latin typeface="Calibri" panose="020F0502020204030204"/>
              </a:rPr>
              <a:t>Không gian: khu vực và sơ đồ bàn</a:t>
            </a:r>
            <a:endParaRPr sz="1100" b="0" i="0">
              <a:solidFill>
                <a:srgbClr val="5C3415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022592" y="2505456"/>
            <a:ext cx="4846320" cy="822960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22592" y="2505456"/>
            <a:ext cx="82296" cy="82296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25603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218"/>
                </a:solidFill>
                <a:latin typeface="Calibri" panose="020F0502020204030204"/>
              </a:rPr>
              <a:t>DANHMUC / MONAN</a:t>
            </a:r>
            <a:endParaRPr sz="13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2320" y="29443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3415"/>
                </a:solidFill>
                <a:latin typeface="Calibri" panose="020F0502020204030204"/>
              </a:rPr>
              <a:t>Thực đơn: danh mục và món ăn</a:t>
            </a:r>
            <a:endParaRPr sz="1100" b="0" i="0">
              <a:solidFill>
                <a:srgbClr val="5C3415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022592" y="3474720"/>
            <a:ext cx="4846320" cy="822960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22592" y="3474720"/>
            <a:ext cx="82296" cy="82296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35295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7E45"/>
                </a:solidFill>
                <a:latin typeface="Calibri" panose="020F0502020204030204"/>
              </a:rPr>
              <a:t>HOADON / CHITIETHD</a:t>
            </a:r>
            <a:endParaRPr sz="1300" b="1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2320" y="391363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3415"/>
                </a:solidFill>
                <a:latin typeface="Calibri" panose="020F0502020204030204"/>
              </a:rPr>
              <a:t>Giao dịch: hóa đơn và chi tiết</a:t>
            </a:r>
            <a:endParaRPr sz="1100" b="0" i="0">
              <a:solidFill>
                <a:srgbClr val="5C3415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022592" y="4443984"/>
            <a:ext cx="4846320" cy="822960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22592" y="4443984"/>
            <a:ext cx="82296" cy="822960"/>
          </a:xfrm>
          <a:prstGeom prst="rect">
            <a:avLst/>
          </a:prstGeom>
          <a:solidFill>
            <a:srgbClr val="17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4988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6AB0"/>
                </a:solidFill>
                <a:latin typeface="Calibri" panose="020F0502020204030204"/>
              </a:rPr>
              <a:t>NHANVIEN / TAIKHOAN</a:t>
            </a:r>
            <a:endParaRPr sz="1300" b="1" i="0">
              <a:solidFill>
                <a:srgbClr val="176AB0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32320" y="488289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3415"/>
                </a:solidFill>
                <a:latin typeface="Calibri" panose="020F0502020204030204"/>
              </a:rPr>
              <a:t>Nhân sự: nhân viên và tài khoản</a:t>
            </a:r>
            <a:endParaRPr sz="1100" b="0" i="0">
              <a:solidFill>
                <a:srgbClr val="5C3415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022592" y="5413248"/>
            <a:ext cx="4846320" cy="822960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22592" y="5413248"/>
            <a:ext cx="82296" cy="822960"/>
          </a:xfrm>
          <a:prstGeom prst="rect">
            <a:avLst/>
          </a:prstGeom>
          <a:solidFill>
            <a:srgbClr val="2A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546811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7630"/>
                </a:solidFill>
                <a:latin typeface="Calibri" panose="020F0502020204030204"/>
              </a:rPr>
              <a:t>THUCHI</a:t>
            </a:r>
            <a:endParaRPr sz="1300" b="1" i="0">
              <a:solidFill>
                <a:srgbClr val="2A7630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32320" y="58521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3415"/>
                </a:solidFill>
                <a:latin typeface="Calibri" panose="020F0502020204030204"/>
              </a:rPr>
              <a:t>Sổ thu chi vận hành nội bộ</a:t>
            </a:r>
            <a:endParaRPr sz="1100" b="0" i="0">
              <a:solidFill>
                <a:srgbClr val="5C3415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22592" y="62362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3415"/>
                </a:solidFill>
                <a:latin typeface="Calibri" panose="020F0502020204030204"/>
              </a:rPr>
              <a:t>utf8mb4  ·  Trigger tự động  ·  Stored Procedures  ·  Views</a:t>
            </a:r>
            <a:endParaRPr sz="1000" b="0" i="1">
              <a:solidFill>
                <a:srgbClr val="5C341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Ứng dụng thực tế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47E45"/>
                </a:solidFill>
                <a:latin typeface="Calibri" panose="020F0502020204030204"/>
              </a:rPr>
              <a:t>Workflow &amp; Stakeholders</a:t>
            </a:r>
            <a:endParaRPr sz="11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40312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15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987552"/>
            <a:ext cx="115488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C3218"/>
                </a:solidFill>
                <a:latin typeface="Calibri" panose="020F0502020204030204"/>
              </a:rPr>
              <a:t>Quy trình vận hành với ShiftPOS</a:t>
            </a:r>
            <a:endParaRPr sz="15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1833372" cy="1828800"/>
          </a:xfrm>
          <a:prstGeom prst="rect">
            <a:avLst/>
          </a:prstGeom>
          <a:solidFill>
            <a:srgbClr val="17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54480"/>
            <a:ext cx="18333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" y="2002536"/>
            <a:ext cx="18333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Đón khách
Chọn bàn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0040" y="3374136"/>
            <a:ext cx="18333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76AB0"/>
                </a:solidFill>
                <a:latin typeface="Calibri" panose="020F0502020204030204"/>
              </a:rPr>
              <a:t>Phục vụ</a:t>
            </a:r>
            <a:endParaRPr sz="1000" b="0" i="1">
              <a:solidFill>
                <a:srgbClr val="176AB0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44852" y="1508760"/>
            <a:ext cx="1833372" cy="182880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4852" y="1554480"/>
            <a:ext cx="18333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44852" y="2002536"/>
            <a:ext cx="18333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Gọi món
trên tablet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44852" y="3374136"/>
            <a:ext cx="18333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C3218"/>
                </a:solidFill>
                <a:latin typeface="Calibri" panose="020F0502020204030204"/>
              </a:rPr>
              <a:t>Phục vụ</a:t>
            </a:r>
            <a:endParaRPr sz="1000" b="0" i="1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69663" y="1508760"/>
            <a:ext cx="1833372" cy="182880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9663" y="1554480"/>
            <a:ext cx="18333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69663" y="2002536"/>
            <a:ext cx="18333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Nhận lệnh
chế biến FIFO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69663" y="3374136"/>
            <a:ext cx="18333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47E45"/>
                </a:solidFill>
                <a:latin typeface="Calibri" panose="020F0502020204030204"/>
              </a:rPr>
              <a:t>Bếp</a:t>
            </a:r>
            <a:endParaRPr sz="10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94475" y="1508760"/>
            <a:ext cx="1833372" cy="182880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4475" y="1554480"/>
            <a:ext cx="18333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94475" y="2002536"/>
            <a:ext cx="18333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Xác nhận
món đã xong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94475" y="3374136"/>
            <a:ext cx="18333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47E45"/>
                </a:solidFill>
                <a:latin typeface="Calibri" panose="020F0502020204030204"/>
              </a:rPr>
              <a:t>Bếp</a:t>
            </a:r>
            <a:endParaRPr sz="10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019288" y="1508760"/>
            <a:ext cx="1833372" cy="1828800"/>
          </a:xfrm>
          <a:prstGeom prst="rect">
            <a:avLst/>
          </a:prstGeom>
          <a:solidFill>
            <a:srgbClr val="D9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1554480"/>
            <a:ext cx="18333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5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19288" y="2002536"/>
            <a:ext cx="18333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Xuất HĐ
Thanh toán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19288" y="3374136"/>
            <a:ext cx="18333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97235"/>
                </a:solidFill>
                <a:latin typeface="Calibri" panose="020F0502020204030204"/>
              </a:rPr>
              <a:t>Thu ngân</a:t>
            </a:r>
            <a:endParaRPr sz="1000" b="0" i="1">
              <a:solidFill>
                <a:srgbClr val="D97235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944100" y="1508760"/>
            <a:ext cx="1833372" cy="1828800"/>
          </a:xfrm>
          <a:prstGeom prst="rect">
            <a:avLst/>
          </a:prstGeom>
          <a:solidFill>
            <a:srgbClr val="2A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4100" y="1554480"/>
            <a:ext cx="18333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6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44100" y="2002536"/>
            <a:ext cx="18333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Xem báo cáo
cuối ngày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44100" y="3374136"/>
            <a:ext cx="18333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A7630"/>
                </a:solidFill>
                <a:latin typeface="Calibri" panose="020F0502020204030204"/>
              </a:rPr>
              <a:t>Quản lý</a:t>
            </a:r>
            <a:endParaRPr sz="1000" b="0" i="1">
              <a:solidFill>
                <a:srgbClr val="2A7630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0040" y="3849624"/>
            <a:ext cx="11548872" cy="27432"/>
          </a:xfrm>
          <a:prstGeom prst="rect">
            <a:avLst/>
          </a:prstGeom>
          <a:solidFill>
            <a:srgbClr val="D4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959352"/>
            <a:ext cx="11548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C3218"/>
                </a:solidFill>
                <a:latin typeface="Calibri" panose="020F0502020204030204"/>
              </a:rPr>
              <a:t>Đối tượng hưởng lợi</a:t>
            </a:r>
            <a:endParaRPr sz="15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20040" y="4453128"/>
            <a:ext cx="2763774" cy="2039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453128"/>
            <a:ext cx="2763774" cy="64008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" y="4572000"/>
            <a:ext cx="258089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218"/>
                </a:solidFill>
                <a:latin typeface="Calibri" panose="020F0502020204030204"/>
              </a:rPr>
              <a:t>Chủ nhà hàng</a:t>
            </a:r>
            <a:endParaRPr sz="13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9768" y="5038344"/>
            <a:ext cx="258089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Kiểm soát doanh thu, nhân sự và chi phí mọi lúc, mọi nơi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248406" y="4453128"/>
            <a:ext cx="2763774" cy="2039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48406" y="4453128"/>
            <a:ext cx="2763774" cy="64008"/>
          </a:xfrm>
          <a:prstGeom prst="rect">
            <a:avLst/>
          </a:prstGeom>
          <a:solidFill>
            <a:srgbClr val="D9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58134" y="4572000"/>
            <a:ext cx="258089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235"/>
                </a:solidFill>
                <a:latin typeface="Calibri" panose="020F0502020204030204"/>
              </a:rPr>
              <a:t>Quản lý ca</a:t>
            </a:r>
            <a:endParaRPr sz="1300" b="1" i="0">
              <a:solidFill>
                <a:srgbClr val="D97235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358134" y="5038344"/>
            <a:ext cx="258089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Ra quyết định nhanh dựa trên dữ liệu thời gian thực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176772" y="4453128"/>
            <a:ext cx="2763774" cy="2039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6772" y="4453128"/>
            <a:ext cx="2763774" cy="64008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86500" y="4572000"/>
            <a:ext cx="258089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7E45"/>
                </a:solidFill>
                <a:latin typeface="Calibri" panose="020F0502020204030204"/>
              </a:rPr>
              <a:t>Phục vụ &amp; Bếp</a:t>
            </a:r>
            <a:endParaRPr sz="1300" b="1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286500" y="5038344"/>
            <a:ext cx="258089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Quy trình rõ ràng, giảm sai sót, phục vụ nhanh hơn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105138" y="4453128"/>
            <a:ext cx="2763774" cy="2039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05138" y="4453128"/>
            <a:ext cx="2763774" cy="64008"/>
          </a:xfrm>
          <a:prstGeom prst="rect">
            <a:avLst/>
          </a:prstGeom>
          <a:solidFill>
            <a:srgbClr val="2A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14865" y="4572000"/>
            <a:ext cx="258089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7630"/>
                </a:solidFill>
                <a:latin typeface="Calibri" panose="020F0502020204030204"/>
              </a:rPr>
              <a:t>Khách hàng</a:t>
            </a:r>
            <a:endParaRPr sz="1300" b="1" i="0">
              <a:solidFill>
                <a:srgbClr val="2A7630"/>
              </a:solidFill>
              <a:latin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214865" y="5038344"/>
            <a:ext cx="2580894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0800"/>
                </a:solidFill>
                <a:latin typeface="Calibri" panose="020F0502020204030204"/>
              </a:rPr>
              <a:t>Hóa đơn chính xác, thanh toán linh hoạt, phục vụ nhanh</a:t>
            </a:r>
            <a:endParaRPr sz="1100" b="0" i="0">
              <a:solidFill>
                <a:srgbClr val="1A08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7317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Kết luận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47E45"/>
                </a:solidFill>
                <a:latin typeface="Calibri" panose="020F0502020204030204"/>
              </a:rPr>
              <a:t>Conclusion</a:t>
            </a:r>
            <a:endParaRPr sz="11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40312" y="65836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47E45"/>
                </a:solidFill>
                <a:latin typeface="Calibri" panose="020F0502020204030204"/>
              </a:rPr>
              <a:t>16</a:t>
            </a:r>
            <a:endParaRPr sz="900" b="0" i="0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1033272"/>
            <a:ext cx="11548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C3218"/>
                </a:solidFill>
                <a:latin typeface="Calibri" panose="020F0502020204030204"/>
              </a:rPr>
              <a:t>Kết quả đạt được</a:t>
            </a:r>
            <a:endParaRPr sz="18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581912"/>
            <a:ext cx="11548872" cy="27432"/>
          </a:xfrm>
          <a:prstGeom prst="rect">
            <a:avLst/>
          </a:prstGeom>
          <a:solidFill>
            <a:srgbClr val="D4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719072"/>
            <a:ext cx="347472" cy="475488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737360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1764792"/>
            <a:ext cx="11091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0800"/>
                </a:solidFill>
                <a:latin typeface="Calibri" panose="020F0502020204030204"/>
              </a:rPr>
              <a:t>Hệ thống POS hoàn chỉnh với 7 nhóm chức năng tích hợp liền mạch</a:t>
            </a:r>
            <a:endParaRPr sz="13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347472" cy="475488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395727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2423159"/>
            <a:ext cx="11091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0800"/>
                </a:solidFill>
                <a:latin typeface="Calibri" panose="020F0502020204030204"/>
              </a:rPr>
              <a:t>Phân quyền RBAC kết hợp JWT — bảo mật đạt chuẩn production-ready</a:t>
            </a:r>
            <a:endParaRPr sz="13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0040" y="3035808"/>
            <a:ext cx="347472" cy="475488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054096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3081527"/>
            <a:ext cx="11091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0800"/>
                </a:solidFill>
                <a:latin typeface="Calibri" panose="020F0502020204030204"/>
              </a:rPr>
              <a:t>Giao diện trực quan, dùng được trên tablet lẫn màn hình lớn</a:t>
            </a:r>
            <a:endParaRPr sz="13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0040" y="3694176"/>
            <a:ext cx="347472" cy="475488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712463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3739896"/>
            <a:ext cx="11091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0800"/>
                </a:solidFill>
                <a:latin typeface="Calibri" panose="020F0502020204030204"/>
              </a:rPr>
              <a:t>Luồng Bếp – Phục vụ – Thu ngân – Quản lý thông suốt, thời gian thực</a:t>
            </a:r>
            <a:endParaRPr sz="13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0040" y="4352544"/>
            <a:ext cx="347472" cy="475488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370831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5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4398264"/>
            <a:ext cx="11091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0800"/>
                </a:solidFill>
                <a:latin typeface="Calibri" panose="020F0502020204030204"/>
              </a:rPr>
              <a:t>Báo cáo và sổ thu chi giúp chủ nhà hàng quản trị minh bạch, hiệu quả</a:t>
            </a:r>
            <a:endParaRPr sz="1300" b="0" i="0">
              <a:solidFill>
                <a:srgbClr val="1A0800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5193792"/>
            <a:ext cx="11548872" cy="27432"/>
          </a:xfrm>
          <a:prstGeom prst="rect">
            <a:avLst/>
          </a:prstGeom>
          <a:solidFill>
            <a:srgbClr val="D4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330952"/>
            <a:ext cx="11548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C3218"/>
                </a:solidFill>
                <a:latin typeface="Calibri" panose="020F0502020204030204"/>
              </a:rPr>
              <a:t>Hướng phát triển tiếp theo</a:t>
            </a:r>
            <a:endParaRPr sz="1800" b="1" i="0">
              <a:solidFill>
                <a:srgbClr val="5C3218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0040" y="5833872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3415"/>
                </a:solidFill>
                <a:latin typeface="Calibri" panose="020F0502020204030204"/>
              </a:rPr>
              <a:t>  &gt; Tích hợp quản lý kho nguyên liệu và cảnh báo hết hàng tự động</a:t>
            </a:r>
            <a:endParaRPr sz="1100" b="0" i="0">
              <a:solidFill>
                <a:srgbClr val="5C3415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0040" y="6144768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3415"/>
                </a:solidFill>
                <a:latin typeface="Calibri" panose="020F0502020204030204"/>
              </a:rPr>
              <a:t>  &gt; Phát triển ứng dụng mobile (React Native / Flutter) cho phục vụ &amp; bếp</a:t>
            </a:r>
            <a:endParaRPr sz="1100" b="0" i="0">
              <a:solidFill>
                <a:srgbClr val="5C3415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78375" y="5788914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3415"/>
                </a:solidFill>
                <a:latin typeface="Calibri" panose="020F0502020204030204"/>
              </a:rPr>
              <a:t>  &gt; Hỗ trợ đa chi nhánh, đồng bộ dữ liệu theo thời gian thực</a:t>
            </a:r>
            <a:endParaRPr sz="1100" b="0" i="0">
              <a:solidFill>
                <a:srgbClr val="5C3415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78375" y="6139815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3415"/>
                </a:solidFill>
                <a:latin typeface="Calibri" panose="020F0502020204030204"/>
              </a:rPr>
              <a:t>  &gt; Tích hợp cổng thanh toán thực tế: VNPAY, MoMo, ZaloPay</a:t>
            </a:r>
            <a:endParaRPr sz="1100" b="0" i="0">
              <a:solidFill>
                <a:srgbClr val="5C3415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0040" y="7077456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3415"/>
                </a:solidFill>
                <a:latin typeface="Calibri" panose="020F0502020204030204"/>
              </a:rPr>
              <a:t>  &gt; Phân tích AI: dự báo doanh thu, gợi ý thực đơn theo xu hướng</a:t>
            </a:r>
            <a:endParaRPr sz="1100" b="0" i="0">
              <a:solidFill>
                <a:srgbClr val="5C341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2552"/>
            <a:ext cx="12188952" cy="155448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55448"/>
            <a:ext cx="155448" cy="6547104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33504" y="155448"/>
            <a:ext cx="155448" cy="6547104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411480"/>
            <a:ext cx="11365992" cy="30175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6416344"/>
            <a:ext cx="11365992" cy="30175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411480"/>
            <a:ext cx="30175" cy="603504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47296" y="411480"/>
            <a:ext cx="30175" cy="603504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415" y="353415"/>
            <a:ext cx="146304" cy="146304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89232" y="353415"/>
            <a:ext cx="146304" cy="146304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415" y="6358280"/>
            <a:ext cx="146304" cy="146304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89232" y="6358280"/>
            <a:ext cx="146304" cy="146304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90979" y="1389888"/>
            <a:ext cx="241401" cy="201168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90979" y="1344625"/>
            <a:ext cx="241401" cy="90525"/>
          </a:xfrm>
          <a:prstGeom prst="ellipse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857182" y="1565910"/>
            <a:ext cx="308994" cy="50292"/>
          </a:xfrm>
          <a:prstGeom prst="ellipse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32380" y="1426098"/>
            <a:ext cx="70408" cy="2414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78649" y="1426098"/>
            <a:ext cx="24140" cy="9656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32380" y="1498518"/>
            <a:ext cx="70408" cy="2414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76475" y="1188720"/>
            <a:ext cx="19110" cy="130759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61972" y="1188720"/>
            <a:ext cx="19110" cy="130759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81368" y="980968"/>
            <a:ext cx="689823" cy="689823"/>
          </a:xfrm>
          <a:prstGeom prst="ellipse">
            <a:avLst/>
          </a:prstGeom>
          <a:noFill/>
          <a:ln w="29159">
            <a:solidFill>
              <a:srgbClr val="5C3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12434" y="1112034"/>
            <a:ext cx="427690" cy="427690"/>
          </a:xfrm>
          <a:prstGeom prst="ellipse">
            <a:avLst/>
          </a:prstGeom>
          <a:noFill/>
          <a:ln w="14579">
            <a:solidFill>
              <a:srgbClr val="5C3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24184" y="875995"/>
            <a:ext cx="25493" cy="359907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58675" y="875995"/>
            <a:ext cx="25493" cy="359907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93166" y="875995"/>
            <a:ext cx="25493" cy="359907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47803" y="1254648"/>
            <a:ext cx="47237" cy="52111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10655" y="875995"/>
            <a:ext cx="50986" cy="899769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7760" y="980968"/>
            <a:ext cx="689823" cy="689823"/>
          </a:xfrm>
          <a:prstGeom prst="ellipse">
            <a:avLst/>
          </a:prstGeom>
          <a:noFill/>
          <a:ln w="29159">
            <a:solidFill>
              <a:srgbClr val="5C3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48826" y="1112034"/>
            <a:ext cx="427690" cy="427690"/>
          </a:xfrm>
          <a:prstGeom prst="ellipse">
            <a:avLst/>
          </a:prstGeom>
          <a:noFill/>
          <a:ln w="14579">
            <a:solidFill>
              <a:srgbClr val="5C3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60576" y="875995"/>
            <a:ext cx="25493" cy="359907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95067" y="875995"/>
            <a:ext cx="25493" cy="359907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29558" y="875995"/>
            <a:ext cx="25493" cy="359907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84195" y="1254648"/>
            <a:ext cx="47237" cy="521116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47047" y="875995"/>
            <a:ext cx="50986" cy="899769"/>
          </a:xfrm>
          <a:prstGeom prst="rect">
            <a:avLst/>
          </a:prstGeom>
          <a:solidFill>
            <a:srgbClr val="5C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56571" y="1389888"/>
            <a:ext cx="241401" cy="201168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56571" y="1344625"/>
            <a:ext cx="241401" cy="90525"/>
          </a:xfrm>
          <a:prstGeom prst="ellipse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22774" y="1565910"/>
            <a:ext cx="308994" cy="50292"/>
          </a:xfrm>
          <a:prstGeom prst="ellipse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97972" y="1426098"/>
            <a:ext cx="70408" cy="2414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344241" y="1426098"/>
            <a:ext cx="24140" cy="9656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97972" y="1498518"/>
            <a:ext cx="70408" cy="24140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42067" y="1188720"/>
            <a:ext cx="19110" cy="130759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27564" y="1188720"/>
            <a:ext cx="19110" cy="130759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71600" y="2487168"/>
            <a:ext cx="9445752" cy="27432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3A1A05"/>
                </a:solidFill>
                <a:latin typeface="Calibri" panose="020F0502020204030204"/>
              </a:rPr>
              <a:t>Xin chân thành cảm ơn!</a:t>
            </a:r>
            <a:endParaRPr sz="4600" b="1" i="0">
              <a:solidFill>
                <a:srgbClr val="3A1A05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8640" y="3794760"/>
            <a:ext cx="11091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47E45"/>
                </a:solidFill>
                <a:latin typeface="Calibri" panose="020F0502020204030204"/>
              </a:rPr>
              <a:t>Rất mong nhận được ý kiến đóng góp của thầy/cô và các bạn</a:t>
            </a:r>
            <a:endParaRPr sz="1600" b="0" i="1">
              <a:solidFill>
                <a:srgbClr val="C47E45"/>
              </a:solidFill>
              <a:latin typeface="Calibri" panose="020F050202020403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286000" y="4480560"/>
            <a:ext cx="7616952" cy="27432"/>
          </a:xfrm>
          <a:prstGeom prst="rect">
            <a:avLst/>
          </a:prstGeom>
          <a:solidFill>
            <a:srgbClr val="C47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663440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C3415"/>
                </a:solidFill>
                <a:latin typeface="Calibri" panose="020F0502020204030204"/>
              </a:rPr>
              <a:t>ShiftPOS  ·  Foody POS System</a:t>
            </a:r>
            <a:endParaRPr sz="1500" b="1" i="0">
              <a:solidFill>
                <a:srgbClr val="5C3415"/>
              </a:solidFill>
              <a:latin typeface="Calibri" panose="020F050202020403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48640" y="5102352"/>
            <a:ext cx="11091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C3415"/>
                </a:solidFill>
                <a:latin typeface="Calibri" panose="020F0502020204030204"/>
              </a:rPr>
              <a:t>Nguyễn Minh Tuấn Kiệt  |  B23DCCE060  |  PTIT 2026</a:t>
            </a:r>
            <a:endParaRPr sz="1300" b="0" i="0">
              <a:solidFill>
                <a:srgbClr val="5C341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7191</Words>
  <Application>WPS Presentation</Application>
  <PresentationFormat>On-screen Show (4:3)</PresentationFormat>
  <Paragraphs>466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Admin</cp:lastModifiedBy>
  <cp:revision>2</cp:revision>
  <dcterms:created xsi:type="dcterms:W3CDTF">2013-01-27T09:14:00Z</dcterms:created>
  <dcterms:modified xsi:type="dcterms:W3CDTF">2026-06-26T00:40:40Z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5ABBA9A7B1864E1BBFFFCED974F1E431_12</vt:lpwstr>
  </property>
  <property fmtid="{D5CDD505-2E9C-101B-9397-08002B2CF9AE}" pid="3" name="KSOProductBuildVer">
    <vt:lpwstr>1033-12.1.0.26880</vt:lpwstr>
  </property>
</Properties>
</file>